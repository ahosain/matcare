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651760"/>
          </a:xfrm>
          <a:prstGeom prst="rect">
            <a:avLst/>
          </a:prstGeom>
          <a:solidFill>
            <a:srgbClr val="1C5C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>
                <a:solidFill>
                  <a:srgbClr val="FFFFFF"/>
                </a:solidFill>
                <a:latin typeface="Calibri"/>
              </a:rPr>
              <a:t>MatCare — Obstetric Access in Texas</a:t>
            </a:r>
          </a:p>
          <a:p>
            <a:pPr algn="l">
              <a:spcAft>
                <a:spcPts val="0"/>
              </a:spcAft>
            </a:pPr>
            <a:r>
              <a:rPr sz="1900" b="0">
                <a:solidFill>
                  <a:srgbClr val="CDE2FB"/>
                </a:solidFill>
                <a:latin typeface="Calibri"/>
              </a:rPr>
              <a:t>How the data was built, what was wrong with it, and what it shows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3063240"/>
            <a:ext cx="2592324" cy="1170432"/>
          </a:xfrm>
          <a:prstGeom prst="roundRect">
            <a:avLst/>
          </a:prstGeom>
          <a:solidFill>
            <a:srgbClr val="EEF4FD"/>
          </a:solidFill>
          <a:ln>
            <a:solidFill>
              <a:srgbClr val="D5E3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>
              <a:spcAft>
                <a:spcPts val="100"/>
              </a:spcAft>
            </a:pPr>
            <a:r>
              <a:rPr sz="2500" b="1">
                <a:solidFill>
                  <a:srgbClr val="1C5CAB"/>
                </a:solidFill>
                <a:latin typeface="Calibri"/>
              </a:rPr>
              <a:t>5,946,778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52514E"/>
                </a:solidFill>
                <a:latin typeface="Calibri"/>
              </a:rPr>
              <a:t>women 15–44 within 30 min of care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87852" y="3063240"/>
            <a:ext cx="2592324" cy="1170432"/>
          </a:xfrm>
          <a:prstGeom prst="roundRect">
            <a:avLst/>
          </a:prstGeom>
          <a:solidFill>
            <a:srgbClr val="EEF4FD"/>
          </a:solidFill>
          <a:ln>
            <a:solidFill>
              <a:srgbClr val="D5E3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>
              <a:spcAft>
                <a:spcPts val="100"/>
              </a:spcAft>
            </a:pPr>
            <a:r>
              <a:rPr sz="2500" b="1">
                <a:solidFill>
                  <a:srgbClr val="B94B21"/>
                </a:solidFill>
                <a:latin typeface="Calibri"/>
              </a:rPr>
              <a:t>185,185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52514E"/>
                </a:solidFill>
                <a:latin typeface="Calibri"/>
              </a:rPr>
              <a:t>women 15–44 beyond 30 min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81344" y="3063240"/>
            <a:ext cx="2592324" cy="1170432"/>
          </a:xfrm>
          <a:prstGeom prst="roundRect">
            <a:avLst/>
          </a:prstGeom>
          <a:solidFill>
            <a:srgbClr val="EEF4FD"/>
          </a:solidFill>
          <a:ln>
            <a:solidFill>
              <a:srgbClr val="D5E3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>
              <a:spcAft>
                <a:spcPts val="100"/>
              </a:spcAft>
            </a:pPr>
            <a:r>
              <a:rPr sz="2500" b="1">
                <a:solidFill>
                  <a:srgbClr val="C03938"/>
                </a:solidFill>
                <a:latin typeface="Calibri"/>
              </a:rPr>
              <a:t>576,196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52514E"/>
                </a:solidFill>
                <a:latin typeface="Calibri"/>
              </a:rPr>
              <a:t>beyond 30 min of a NICU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74836" y="3063240"/>
            <a:ext cx="2592324" cy="1170432"/>
          </a:xfrm>
          <a:prstGeom prst="roundRect">
            <a:avLst/>
          </a:prstGeom>
          <a:solidFill>
            <a:srgbClr val="EEF4FD"/>
          </a:solidFill>
          <a:ln>
            <a:solidFill>
              <a:srgbClr val="D5E3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>
              <a:spcAft>
                <a:spcPts val="100"/>
              </a:spcAft>
            </a:pPr>
            <a:r>
              <a:rPr sz="2500" b="1">
                <a:solidFill>
                  <a:srgbClr val="0E7A53"/>
                </a:solidFill>
                <a:latin typeface="Calibri"/>
              </a:rPr>
              <a:t>211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52514E"/>
                </a:solidFill>
                <a:latin typeface="Calibri"/>
              </a:rPr>
              <a:t>active obstetric facilities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617720"/>
            <a:ext cx="106984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solidFill>
                  <a:srgbClr val="52514E"/>
                </a:solidFill>
                <a:latin typeface="Calibri"/>
              </a:rPr>
              <a:t>Every Texas census block routed on the real road network. No sampling, no API, fully reproducible.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8A8983"/>
                </a:solidFill>
                <a:latin typeface="Calibri"/>
              </a:rPr>
              <a:t>Data: US Census (TIGER, 2020 Decennial, ACS 2019–2023) · CMS Provider of Services · HIFLD · OpenStreetMap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32764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8A8983"/>
                </a:solidFill>
                <a:latin typeface="Calibri"/>
              </a:rPr>
              <a:t>Project walkthrough · slide 1 of 15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2A78D6"/>
                </a:solidFill>
                <a:latin typeface="Calibri"/>
              </a:rPr>
              <a:t>THE PROBLEM</a:t>
            </a:r>
          </a:p>
          <a:p>
            <a:pPr algn="l">
              <a:spcAft>
                <a:spcPts val="0"/>
              </a:spcAft>
            </a:pPr>
            <a:r>
              <a:rPr sz="2700" b="1">
                <a:solidFill>
                  <a:srgbClr val="111111"/>
                </a:solidFill>
                <a:latin typeface="Calibri"/>
              </a:rPr>
              <a:t>Why the standard measure is not good enough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298448"/>
            <a:ext cx="1371600" cy="4445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600200"/>
            <a:ext cx="54864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700" b="1">
                <a:solidFill>
                  <a:srgbClr val="111111"/>
                </a:solidFill>
                <a:latin typeface="Calibri"/>
              </a:rPr>
              <a:t>The usual metric: “maternity care desert” = a county with no obstetric facility.</a:t>
            </a:r>
          </a:p>
          <a:p>
            <a:pPr algn="l">
              <a:spcAft>
                <a:spcPts val="1100"/>
              </a:spcAft>
            </a:pPr>
            <a:r>
              <a:rPr sz="1400" b="0">
                <a:solidFill>
                  <a:srgbClr val="52514E"/>
                </a:solidFill>
                <a:latin typeface="Calibri"/>
              </a:rPr>
              <a:t>•  A county is not a service area. Texas counties range from 386 to 16,040 km² — averaging access across one hides the variation a planner needs.</a:t>
            </a:r>
          </a:p>
          <a:p>
            <a:pPr algn="l">
              <a:spcAft>
                <a:spcPts val="1100"/>
              </a:spcAft>
            </a:pPr>
            <a:r>
              <a:rPr sz="1400" b="0">
                <a:solidFill>
                  <a:srgbClr val="52514E"/>
                </a:solidFill>
                <a:latin typeface="Calibri"/>
              </a:rPr>
              <a:t>•  It is binary. A county with one facility and a county with twenty score identically.</a:t>
            </a:r>
          </a:p>
          <a:p>
            <a:pPr algn="l">
              <a:spcAft>
                <a:spcPts val="1100"/>
              </a:spcAft>
            </a:pPr>
            <a:r>
              <a:rPr sz="1400" b="0">
                <a:solidFill>
                  <a:srgbClr val="52514E"/>
                </a:solidFill>
                <a:latin typeface="Calibri"/>
              </a:rPr>
              <a:t>•  It cannot distinguish a county that never had a hospital from one whose hospital closed its labour-and-delivery unit — clinically and politically very different problems.</a:t>
            </a:r>
          </a:p>
          <a:p>
            <a:pPr algn="l">
              <a:spcAft>
                <a:spcPts val="1100"/>
              </a:spcAft>
            </a:pPr>
            <a:r>
              <a:rPr sz="1400" b="0">
                <a:solidFill>
                  <a:srgbClr val="52514E"/>
                </a:solidFill>
                <a:latin typeface="Calibri"/>
              </a:rPr>
              <a:t>•  It ignores level of care. Reaching any hospital is not the same as reaching one that can manage a haemorrhage or a preterm birth.</a:t>
            </a:r>
          </a:p>
          <a:p>
            <a:pPr algn="l">
              <a:spcAft>
                <a:spcPts val="0"/>
              </a:spcAft>
            </a:pPr>
            <a:r>
              <a:rPr sz="1500" b="1">
                <a:solidFill>
                  <a:srgbClr val="1C5CAB"/>
                </a:solidFill>
                <a:latin typeface="Calibri"/>
              </a:rPr>
              <a:t>Our approach: measure drive time from every one of the 668,757 census blocks, weighted by women aged 15–44.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37960" y="2148840"/>
          <a:ext cx="5029199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66800"/>
                <a:gridCol w="1676399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Unit</a:t>
                      </a:r>
                    </a:p>
                  </a:txBody>
                  <a:tcPr marL="64008" marR="64008" marT="0" marB="0">
                    <a:solidFill>
                      <a:srgbClr val="1C5CA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Count</a:t>
                      </a:r>
                    </a:p>
                  </a:txBody>
                  <a:tcPr marL="64008" marR="64008" marT="0" marB="0">
                    <a:solidFill>
                      <a:srgbClr val="1C5CA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Resolution</a:t>
                      </a:r>
                    </a:p>
                  </a:txBody>
                  <a:tcPr marL="64008" marR="64008" marT="0" marB="0">
                    <a:solidFill>
                      <a:srgbClr val="1C5CA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11111"/>
                          </a:solidFill>
                          <a:latin typeface="Calibri"/>
                        </a:rPr>
                        <a:t>County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11111"/>
                          </a:solidFill>
                          <a:latin typeface="Calibri"/>
                        </a:rPr>
                        <a:t>254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11111"/>
                          </a:solidFill>
                          <a:latin typeface="Calibri"/>
                        </a:rPr>
                        <a:t>too coarse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11111"/>
                          </a:solidFill>
                          <a:latin typeface="Calibri"/>
                        </a:rPr>
                        <a:t>Census tract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11111"/>
                          </a:solidFill>
                          <a:latin typeface="Calibri"/>
                        </a:rPr>
                        <a:t>6,896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11111"/>
                          </a:solidFill>
                          <a:latin typeface="Calibri"/>
                        </a:rPr>
                        <a:t>coarse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11111"/>
                          </a:solidFill>
                          <a:latin typeface="Calibri"/>
                        </a:rPr>
                        <a:t>Block group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11111"/>
                          </a:solidFill>
                          <a:latin typeface="Calibri"/>
                        </a:rPr>
                        <a:t>18,638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11111"/>
                          </a:solidFill>
                          <a:latin typeface="Calibri"/>
                        </a:rPr>
                        <a:t>ACS available here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11111"/>
                          </a:solidFill>
                          <a:latin typeface="Calibri"/>
                        </a:rPr>
                        <a:t>Census block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11111"/>
                          </a:solidFill>
                          <a:latin typeface="Calibri"/>
                        </a:rPr>
                        <a:t>668,757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11111"/>
                          </a:solidFill>
                          <a:latin typeface="Calibri"/>
                        </a:rPr>
                        <a:t>what we use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632764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8A8983"/>
                </a:solidFill>
                <a:latin typeface="Calibri"/>
              </a:rPr>
              <a:t>Slide 2 of 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2A78D6"/>
                </a:solidFill>
                <a:latin typeface="Calibri"/>
              </a:rPr>
              <a:t>DATA PROVENANCE</a:t>
            </a:r>
          </a:p>
          <a:p>
            <a:pPr algn="l">
              <a:spcAft>
                <a:spcPts val="0"/>
              </a:spcAft>
            </a:pPr>
            <a:r>
              <a:rPr sz="2700" b="1">
                <a:solidFill>
                  <a:srgbClr val="111111"/>
                </a:solidFill>
                <a:latin typeface="Calibri"/>
              </a:rPr>
              <a:t>Which dataset came from where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298448"/>
            <a:ext cx="1371600" cy="4445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94360" y="1600200"/>
          <a:ext cx="10972799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29000"/>
                <a:gridCol w="2286000"/>
                <a:gridCol w="5257799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Dataset</a:t>
                      </a:r>
                    </a:p>
                  </a:txBody>
                  <a:tcPr marL="64008" marR="64008" marT="0" marB="0">
                    <a:solidFill>
                      <a:srgbClr val="1C5CA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Source</a:t>
                      </a:r>
                    </a:p>
                  </a:txBody>
                  <a:tcPr marL="64008" marR="64008" marT="0" marB="0">
                    <a:solidFill>
                      <a:srgbClr val="1C5CA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What it provides</a:t>
                      </a:r>
                    </a:p>
                  </a:txBody>
                  <a:tcPr marL="64008" marR="64008" marT="0" marB="0">
                    <a:solidFill>
                      <a:srgbClr val="1C5CA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TIGER/Line 2024 blocks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census.gov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668,757 block polygons + 2020 population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TIGER block groups / tracts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census.gov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18,638 / 6,896 polygons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Centers of Population 2020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census.gov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population-WEIGHTED centroids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ACS 2019–2023 table B01001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census.gov bulk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women aged 15–44 by block group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ZCTA Gazetteer 2024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census.gov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ZIP centroids (geocoding fallback)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Cartographic boundaries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census.gov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county / place outlines for maps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CMS Provider of Services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supplied (CMS)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WHICH hospitals provide obstetrics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HIFLD hospitals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supplied (HIFLD)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WHERE hospitals are (876 in TX)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OpenStreetMap Texas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Geofabrik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the road network (713 MB, ODbL)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502920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350" b="1">
                <a:solidFill>
                  <a:srgbClr val="111111"/>
                </a:solidFill>
                <a:latin typeface="Calibri"/>
              </a:rPr>
              <a:t>Every download is recorded in data/_manifest.json with its URL, byte count, SHA-256 hash and retrieval time.</a:t>
            </a:r>
          </a:p>
          <a:p>
            <a:pPr algn="l">
              <a:spcAft>
                <a:spcPts val="0"/>
              </a:spcAft>
            </a:pPr>
            <a:r>
              <a:rPr sz="1250" b="0">
                <a:solidFill>
                  <a:srgbClr val="52514E"/>
                </a:solidFill>
                <a:latin typeface="Calibri"/>
              </a:rPr>
              <a:t>The OpenStreetMap extract was verified against Geofabrik's own published MD5 checksum — it matched exactly. Census block, block-group and tract populations independently agree at 29,145,505, the published 2020 Texas total.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32764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8A8983"/>
                </a:solidFill>
                <a:latin typeface="Calibri"/>
              </a:rPr>
              <a:t>Slide 3 of 15 · No API key is required anywhere in this pipeline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2A78D6"/>
                </a:solidFill>
                <a:latin typeface="Calibri"/>
              </a:rPr>
              <a:t>HOW IT RUNS</a:t>
            </a:r>
          </a:p>
          <a:p>
            <a:pPr algn="l">
              <a:spcAft>
                <a:spcPts val="0"/>
              </a:spcAft>
            </a:pPr>
            <a:r>
              <a:rPr sz="2700" b="1">
                <a:solidFill>
                  <a:srgbClr val="111111"/>
                </a:solidFill>
                <a:latin typeface="Calibri"/>
              </a:rPr>
              <a:t>The processing pipeline, end to end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298448"/>
            <a:ext cx="1371600" cy="4445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94360" y="1645920"/>
            <a:ext cx="658368" cy="658368"/>
          </a:xfrm>
          <a:prstGeom prst="round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FFFFFF"/>
                </a:solidFill>
              </a:rPr>
              <a:t>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35608" y="1645920"/>
            <a:ext cx="4663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450" b="1">
                <a:solidFill>
                  <a:srgbClr val="111111"/>
                </a:solidFill>
                <a:latin typeface="Calibri"/>
              </a:rPr>
              <a:t>Download + hash every source</a:t>
            </a:r>
          </a:p>
          <a:p>
            <a:pPr algn="l">
              <a:spcAft>
                <a:spcPts val="0"/>
              </a:spcAft>
            </a:pPr>
            <a:r>
              <a:rPr sz="1150" b="0">
                <a:solidFill>
                  <a:srgbClr val="8A8983"/>
                </a:solidFill>
                <a:latin typeface="Calibri"/>
              </a:rPr>
              <a:t>1.25 GB, resumable, SHA-256 manifest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542032"/>
            <a:ext cx="658368" cy="658368"/>
          </a:xfrm>
          <a:prstGeom prst="round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FFFFFF"/>
                </a:solidFill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5608" y="2542032"/>
            <a:ext cx="4663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450" b="1">
                <a:solidFill>
                  <a:srgbClr val="111111"/>
                </a:solidFill>
                <a:latin typeface="Calibri"/>
              </a:rPr>
              <a:t>Build the facility list</a:t>
            </a:r>
          </a:p>
          <a:p>
            <a:pPr algn="l">
              <a:spcAft>
                <a:spcPts val="0"/>
              </a:spcAft>
            </a:pPr>
            <a:r>
              <a:rPr sz="1150" b="0">
                <a:solidFill>
                  <a:srgbClr val="8A8983"/>
                </a:solidFill>
                <a:latin typeface="Calibri"/>
              </a:rPr>
              <a:t>CMS POS ⋈ HIFLD, multi-stage match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3438144"/>
            <a:ext cx="658368" cy="658368"/>
          </a:xfrm>
          <a:prstGeom prst="round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35608" y="3438144"/>
            <a:ext cx="4663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450" b="1">
                <a:solidFill>
                  <a:srgbClr val="111111"/>
                </a:solidFill>
                <a:latin typeface="Calibri"/>
              </a:rPr>
              <a:t>Build census geography</a:t>
            </a:r>
          </a:p>
          <a:p>
            <a:pPr algn="l">
              <a:spcAft>
                <a:spcPts val="0"/>
              </a:spcAft>
            </a:pPr>
            <a:r>
              <a:rPr sz="1150" b="0">
                <a:solidFill>
                  <a:srgbClr val="8A8983"/>
                </a:solidFill>
                <a:latin typeface="Calibri"/>
              </a:rPr>
              <a:t>blocks, block groups, tracts, counties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4334256"/>
            <a:ext cx="658368" cy="658368"/>
          </a:xfrm>
          <a:prstGeom prst="round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35608" y="4334256"/>
            <a:ext cx="4663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450" b="1">
                <a:solidFill>
                  <a:srgbClr val="111111"/>
                </a:solidFill>
                <a:latin typeface="Calibri"/>
              </a:rPr>
              <a:t>Build the road network</a:t>
            </a:r>
          </a:p>
          <a:p>
            <a:pPr algn="l">
              <a:spcAft>
                <a:spcPts val="0"/>
              </a:spcAft>
            </a:pPr>
            <a:r>
              <a:rPr sz="1150" b="0">
                <a:solidFill>
                  <a:srgbClr val="8A8983"/>
                </a:solidFill>
                <a:latin typeface="Calibri"/>
              </a:rPr>
              <a:t>OSM → 11.0M nodes, 21.6M directed edges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5230368"/>
            <a:ext cx="658368" cy="658368"/>
          </a:xfrm>
          <a:prstGeom prst="round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FFFFFF"/>
                </a:solidFill>
              </a:rPr>
              <a:t>04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35608" y="5230368"/>
            <a:ext cx="4663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450" b="1">
                <a:solidFill>
                  <a:srgbClr val="111111"/>
                </a:solidFill>
                <a:latin typeface="Calibri"/>
              </a:rPr>
              <a:t>Compute access</a:t>
            </a:r>
          </a:p>
          <a:p>
            <a:pPr algn="l">
              <a:spcAft>
                <a:spcPts val="0"/>
              </a:spcAft>
            </a:pPr>
            <a:r>
              <a:rPr sz="1150" b="0">
                <a:solidFill>
                  <a:srgbClr val="8A8983"/>
                </a:solidFill>
                <a:latin typeface="Calibri"/>
              </a:rPr>
              <a:t>multi-source Dijkstra, every block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1645920"/>
            <a:ext cx="658368" cy="658368"/>
          </a:xfrm>
          <a:prstGeom prst="round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FFFFFF"/>
                </a:solidFill>
              </a:rPr>
              <a:t>05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50608" y="1645920"/>
            <a:ext cx="4663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450" b="1">
                <a:solidFill>
                  <a:srgbClr val="111111"/>
                </a:solidFill>
                <a:latin typeface="Calibri"/>
              </a:rPr>
              <a:t>Validate the facility list</a:t>
            </a:r>
          </a:p>
          <a:p>
            <a:pPr algn="l">
              <a:spcAft>
                <a:spcPts val="0"/>
              </a:spcAft>
            </a:pPr>
            <a:r>
              <a:rPr sz="1150" b="0">
                <a:solidFill>
                  <a:srgbClr val="8A8983"/>
                </a:solidFill>
                <a:latin typeface="Calibri"/>
              </a:rPr>
              <a:t>independent cross-check vs OSM hospitals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2542032"/>
            <a:ext cx="658368" cy="658368"/>
          </a:xfrm>
          <a:prstGeom prst="round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FFFFFF"/>
                </a:solidFill>
              </a:rPr>
              <a:t>06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50608" y="2542032"/>
            <a:ext cx="4663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450" b="1">
                <a:solidFill>
                  <a:srgbClr val="111111"/>
                </a:solidFill>
                <a:latin typeface="Calibri"/>
              </a:rPr>
              <a:t>Standard figures</a:t>
            </a:r>
          </a:p>
          <a:p>
            <a:pPr algn="l">
              <a:spcAft>
                <a:spcPts val="0"/>
              </a:spcAft>
            </a:pPr>
            <a:r>
              <a:rPr sz="1150" b="0">
                <a:solidFill>
                  <a:srgbClr val="8A8983"/>
                </a:solidFill>
                <a:latin typeface="Calibri"/>
              </a:rPr>
              <a:t>maps + distributions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60" y="3438144"/>
            <a:ext cx="658368" cy="658368"/>
          </a:xfrm>
          <a:prstGeom prst="round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FFFFFF"/>
                </a:solidFill>
              </a:rPr>
              <a:t>07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50608" y="3438144"/>
            <a:ext cx="4663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450" b="1">
                <a:solidFill>
                  <a:srgbClr val="111111"/>
                </a:solidFill>
                <a:latin typeface="Calibri"/>
              </a:rPr>
              <a:t>Optimise siting</a:t>
            </a:r>
          </a:p>
          <a:p>
            <a:pPr algn="l">
              <a:spcAft>
                <a:spcPts val="0"/>
              </a:spcAft>
            </a:pPr>
            <a:r>
              <a:rPr sz="1150" b="0">
                <a:solidFill>
                  <a:srgbClr val="8A8983"/>
                </a:solidFill>
                <a:latin typeface="Calibri"/>
              </a:rPr>
              <a:t>greedy Maximal Covering Location Problem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09360" y="4334256"/>
            <a:ext cx="658368" cy="658368"/>
          </a:xfrm>
          <a:prstGeom prst="round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FFFFFF"/>
                </a:solidFill>
              </a:rPr>
              <a:t>08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50608" y="4334256"/>
            <a:ext cx="4663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450" b="1">
                <a:solidFill>
                  <a:srgbClr val="111111"/>
                </a:solidFill>
                <a:latin typeface="Calibri"/>
              </a:rPr>
              <a:t>Proposal figures</a:t>
            </a:r>
          </a:p>
          <a:p>
            <a:pPr algn="l">
              <a:spcAft>
                <a:spcPts val="0"/>
              </a:spcAft>
            </a:pPr>
            <a:r>
              <a:rPr sz="1150" b="0">
                <a:solidFill>
                  <a:srgbClr val="8A8983"/>
                </a:solidFill>
                <a:latin typeface="Calibri"/>
              </a:rPr>
              <a:t>3 publication-quality figures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09360" y="5230368"/>
            <a:ext cx="658368" cy="658368"/>
          </a:xfrm>
          <a:prstGeom prst="round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FFFFFF"/>
                </a:solidFill>
              </a:rPr>
              <a:t>10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50608" y="5230368"/>
            <a:ext cx="4663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450" b="1">
                <a:solidFill>
                  <a:srgbClr val="111111"/>
                </a:solidFill>
                <a:latin typeface="Calibri"/>
              </a:rPr>
              <a:t>Women 15–44 denominator</a:t>
            </a:r>
          </a:p>
          <a:p>
            <a:pPr algn="l">
              <a:spcAft>
                <a:spcPts val="0"/>
              </a:spcAft>
            </a:pPr>
            <a:r>
              <a:rPr sz="1150" b="0">
                <a:solidFill>
                  <a:srgbClr val="8A8983"/>
                </a:solidFill>
                <a:latin typeface="Calibri"/>
              </a:rPr>
              <a:t>ACS B01001, block-group resolution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32764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8A8983"/>
                </a:solidFill>
                <a:latin typeface="Calibri"/>
              </a:rPr>
              <a:t>Slide 4 of 15 · Numbered, idempotent, no Docker, no routing server · full statewide run &lt; 10 minutes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2A78D6"/>
                </a:solidFill>
                <a:latin typeface="Calibri"/>
              </a:rPr>
              <a:t>STEP 02</a:t>
            </a:r>
          </a:p>
          <a:p>
            <a:pPr algn="l">
              <a:spcAft>
                <a:spcPts val="0"/>
              </a:spcAft>
            </a:pPr>
            <a:r>
              <a:rPr sz="2700" b="1">
                <a:solidFill>
                  <a:srgbClr val="111111"/>
                </a:solidFill>
                <a:latin typeface="Calibri"/>
              </a:rPr>
              <a:t>Population geography, and how we know it is right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298448"/>
            <a:ext cx="1371600" cy="4445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600200"/>
            <a:ext cx="55778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 b="1">
                <a:solidFill>
                  <a:srgbClr val="111111"/>
                </a:solidFill>
                <a:latin typeface="Calibri"/>
              </a:rPr>
              <a:t>Centroids: two definitions, chosen deliberately</a:t>
            </a:r>
          </a:p>
          <a:p>
            <a:pPr algn="l">
              <a:spcAft>
                <a:spcPts val="1100"/>
              </a:spcAft>
            </a:pPr>
            <a:r>
              <a:rPr sz="1350" b="0">
                <a:solidFill>
                  <a:srgbClr val="52514E"/>
                </a:solidFill>
                <a:latin typeface="Calibri"/>
              </a:rPr>
              <a:t>•  Block groups and tracts use the Census Bureau's official 2020 population-WEIGHTED centres of population.</a:t>
            </a:r>
          </a:p>
          <a:p>
            <a:pPr algn="l">
              <a:spcAft>
                <a:spcPts val="1100"/>
              </a:spcAft>
            </a:pPr>
            <a:r>
              <a:rPr sz="1350" b="0">
                <a:solidFill>
                  <a:srgbClr val="52514E"/>
                </a:solidFill>
                <a:latin typeface="Calibri"/>
              </a:rPr>
              <a:t>•  Blocks use the TIGER internal point — the Bureau publishes no weighted centroid at block level (verified: the directory holds only county/, tract/, blkgrp/).</a:t>
            </a:r>
          </a:p>
          <a:p>
            <a:pPr algn="l">
              <a:spcAft>
                <a:spcPts val="1100"/>
              </a:spcAft>
            </a:pPr>
            <a:r>
              <a:rPr sz="1350" b="0">
                <a:solidFill>
                  <a:srgbClr val="52514E"/>
                </a:solidFill>
                <a:latin typeface="Calibri"/>
              </a:rPr>
              <a:t>•  This matters. An areal centroid of a large rural county can sit in empty desert far from anyone, inflating measured travel. Blocks are small enough that the difference is ~100 m.</a:t>
            </a:r>
          </a:p>
          <a:p>
            <a:pPr algn="l">
              <a:spcAft>
                <a:spcPts val="1000"/>
              </a:spcAft>
            </a:pPr>
            <a:r>
              <a:rPr sz="1700" b="1">
                <a:solidFill>
                  <a:srgbClr val="0E7A53"/>
                </a:solidFill>
                <a:latin typeface="Calibri"/>
              </a:rPr>
              <a:t>Integrity checks that passed</a:t>
            </a:r>
          </a:p>
          <a:p>
            <a:pPr algn="l">
              <a:spcAft>
                <a:spcPts val="900"/>
              </a:spcAft>
            </a:pPr>
            <a:r>
              <a:rPr sz="1350" b="0">
                <a:solidFill>
                  <a:srgbClr val="52514E"/>
                </a:solidFill>
                <a:latin typeface="Calibri"/>
              </a:rPr>
              <a:t>•  Blocks, block groups and tracts independently total 29,145,505 — the published 2020 Texas population. Discrepancy: zero.</a:t>
            </a:r>
          </a:p>
          <a:p>
            <a:pPr algn="l">
              <a:spcAft>
                <a:spcPts val="900"/>
              </a:spcAft>
            </a:pPr>
            <a:r>
              <a:rPr sz="1350" b="0">
                <a:solidFill>
                  <a:srgbClr val="52514E"/>
                </a:solidFill>
                <a:latin typeface="Calibri"/>
              </a:rPr>
              <a:t>•  254 Texas counties, exactly as expected.</a:t>
            </a:r>
          </a:p>
          <a:p>
            <a:pPr algn="l">
              <a:spcAft>
                <a:spcPts val="900"/>
              </a:spcAft>
            </a:pPr>
            <a:r>
              <a:rPr sz="1350" b="0">
                <a:solidFill>
                  <a:srgbClr val="52514E"/>
                </a:solidFill>
                <a:latin typeface="Calibri"/>
              </a:rPr>
              <a:t>•  Women 15–44 disaggregated to blocks reconciles to the block-group total with zero difference.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2103120"/>
          <a:ext cx="4983479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3189"/>
                <a:gridCol w="1208116"/>
                <a:gridCol w="1812174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Layer</a:t>
                      </a:r>
                    </a:p>
                  </a:txBody>
                  <a:tcPr marL="64008" marR="64008" marT="0" marB="0">
                    <a:solidFill>
                      <a:srgbClr val="1C5CA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Count</a:t>
                      </a:r>
                    </a:p>
                  </a:txBody>
                  <a:tcPr marL="64008" marR="64008" marT="0" marB="0">
                    <a:solidFill>
                      <a:srgbClr val="1C5CA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2020 population</a:t>
                      </a:r>
                    </a:p>
                  </a:txBody>
                  <a:tcPr marL="64008" marR="64008" marT="0" marB="0">
                    <a:solidFill>
                      <a:srgbClr val="1C5CA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11111"/>
                          </a:solidFill>
                          <a:latin typeface="Calibri"/>
                        </a:rPr>
                        <a:t>Census blocks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11111"/>
                          </a:solidFill>
                          <a:latin typeface="Calibri"/>
                        </a:rPr>
                        <a:t>668,757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11111"/>
                          </a:solidFill>
                          <a:latin typeface="Calibri"/>
                        </a:rPr>
                        <a:t>29,145,505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11111"/>
                          </a:solidFill>
                          <a:latin typeface="Calibri"/>
                        </a:rPr>
                        <a:t>Block groups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11111"/>
                          </a:solidFill>
                          <a:latin typeface="Calibri"/>
                        </a:rPr>
                        <a:t>18,638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11111"/>
                          </a:solidFill>
                          <a:latin typeface="Calibri"/>
                        </a:rPr>
                        <a:t>29,145,505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11111"/>
                          </a:solidFill>
                          <a:latin typeface="Calibri"/>
                        </a:rPr>
                        <a:t>Census tracts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11111"/>
                          </a:solidFill>
                          <a:latin typeface="Calibri"/>
                        </a:rPr>
                        <a:t>6,896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11111"/>
                          </a:solidFill>
                          <a:latin typeface="Calibri"/>
                        </a:rPr>
                        <a:t>29,145,505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11111"/>
                          </a:solidFill>
                          <a:latin typeface="Calibri"/>
                        </a:rPr>
                        <a:t>Counties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11111"/>
                          </a:solidFill>
                          <a:latin typeface="Calibri"/>
                        </a:rPr>
                        <a:t>254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11111"/>
                          </a:solidFill>
                          <a:latin typeface="Calibri"/>
                        </a:rPr>
                        <a:t>29,145,505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11111"/>
                          </a:solidFill>
                          <a:latin typeface="Calibri"/>
                        </a:rPr>
                        <a:t>Populated blocks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11111"/>
                          </a:solidFill>
                          <a:latin typeface="Calibri"/>
                        </a:rPr>
                        <a:t>449,085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11111"/>
                          </a:solidFill>
                          <a:latin typeface="Calibri"/>
                        </a:rPr>
                        <a:t>67.2% of blocks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632764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8A8983"/>
                </a:solidFill>
                <a:latin typeface="Calibri"/>
              </a:rPr>
              <a:t>Slide 5 of 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2A78D6"/>
                </a:solidFill>
                <a:latin typeface="Calibri"/>
              </a:rPr>
              <a:t>STEP 10</a:t>
            </a:r>
          </a:p>
          <a:p>
            <a:pPr algn="l">
              <a:spcAft>
                <a:spcPts val="0"/>
              </a:spcAft>
            </a:pPr>
            <a:r>
              <a:rPr sz="2700" b="1">
                <a:solidFill>
                  <a:srgbClr val="111111"/>
                </a:solidFill>
                <a:latin typeface="Calibri"/>
              </a:rPr>
              <a:t>The right denominator: women aged 15–44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298448"/>
            <a:ext cx="1371600" cy="4445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554480"/>
            <a:ext cx="56692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 b="1">
                <a:solidFill>
                  <a:srgbClr val="111111"/>
                </a:solidFill>
                <a:latin typeface="Calibri"/>
              </a:rPr>
              <a:t>Total population answers the wrong question.</a:t>
            </a:r>
          </a:p>
          <a:p>
            <a:pPr algn="l">
              <a:spcAft>
                <a:spcPts val="1100"/>
              </a:spcAft>
            </a:pPr>
            <a:r>
              <a:rPr sz="1350" b="0">
                <a:solidFill>
                  <a:srgbClr val="52514E"/>
                </a:solidFill>
                <a:latin typeface="Calibri"/>
              </a:rPr>
              <a:t>•  Obstetric care is used by women of reproductive age, and they are not distributed like everyone else — university towns, retirement communities and prisons all skew it.</a:t>
            </a:r>
          </a:p>
          <a:p>
            <a:pPr algn="l">
              <a:spcAft>
                <a:spcPts val="1100"/>
              </a:spcAft>
            </a:pPr>
            <a:r>
              <a:rPr sz="1350" b="0">
                <a:solidFill>
                  <a:srgbClr val="52514E"/>
                </a:solidFill>
                <a:latin typeface="Calibri"/>
              </a:rPr>
              <a:t>•  Source: ACS 2019–2023 5-year, table B01001 “Sex by Age”, at block-group resolution (ACS is not published for blocks).</a:t>
            </a:r>
          </a:p>
          <a:p>
            <a:pPr algn="l">
              <a:spcAft>
                <a:spcPts val="1100"/>
              </a:spcAft>
            </a:pPr>
            <a:r>
              <a:rPr sz="1350" b="0">
                <a:solidFill>
                  <a:srgbClr val="52514E"/>
                </a:solidFill>
                <a:latin typeface="Calibri"/>
              </a:rPr>
              <a:t>•  The 9 age bands are derived AT RUNTIME by parsing the official Census table shells, not typed from memory — so a mis-remembered variable number cannot silently corrupt the denominator.</a:t>
            </a:r>
          </a:p>
          <a:p>
            <a:pPr algn="l">
              <a:spcAft>
                <a:spcPts val="1100"/>
              </a:spcAft>
            </a:pPr>
            <a:r>
              <a:rPr sz="1350" b="0">
                <a:solidFill>
                  <a:srgbClr val="52514E"/>
                </a:solidFill>
                <a:latin typeface="Calibri"/>
              </a:rPr>
              <a:t>•  For block-level work, block-group counts are shared out to blocks in proportion to 2020 decennial population. This assumes a uniform age–sex mix within a block group, and is stated as an assumption.</a:t>
            </a:r>
          </a:p>
          <a:p>
            <a:pPr algn="l">
              <a:spcAft>
                <a:spcPts val="0"/>
              </a:spcAft>
            </a:pPr>
            <a:r>
              <a:rPr sz="1300" b="1">
                <a:solidFill>
                  <a:srgbClr val="1C5CAB"/>
                </a:solidFill>
                <a:latin typeface="Calibri"/>
              </a:rPr>
              <a:t>api.census.gov now requires a key. We avoid it entirely by reading the bulk Summary File — identical data, no registration.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720840" y="1783080"/>
          <a:ext cx="484632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651760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ACS variable</a:t>
                      </a:r>
                    </a:p>
                  </a:txBody>
                  <a:tcPr marL="64008" marR="64008" marT="0" marB="0">
                    <a:solidFill>
                      <a:srgbClr val="1C5CA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Female age band</a:t>
                      </a:r>
                    </a:p>
                  </a:txBody>
                  <a:tcPr marL="64008" marR="64008" marT="0" marB="0">
                    <a:solidFill>
                      <a:srgbClr val="1C5CA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B01001_030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15 to 17 years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B01001_031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18 and 19 years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B01001_032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20 years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B01001_033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21 years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B01001_034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22 to 24 years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B01001_035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25 to 29 years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B01001_036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30 to 34 years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B01001_037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35 to 39 years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B01001_038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40 to 44 years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6,131,963 women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632764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8A8983"/>
                </a:solidFill>
                <a:latin typeface="Calibri"/>
              </a:rPr>
              <a:t>Slide 6 of 15 · 20.9% of the Texas population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2A78D6"/>
                </a:solidFill>
                <a:latin typeface="Calibri"/>
              </a:rPr>
              <a:t>STEP 01</a:t>
            </a:r>
          </a:p>
          <a:p>
            <a:pPr algn="l">
              <a:spcAft>
                <a:spcPts val="0"/>
              </a:spcAft>
            </a:pPr>
            <a:r>
              <a:rPr sz="2700" b="1">
                <a:solidFill>
                  <a:srgbClr val="111111"/>
                </a:solidFill>
                <a:latin typeface="Calibri"/>
              </a:rPr>
              <a:t>Defining “an obstetric facility” needs two sources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298448"/>
            <a:ext cx="1371600" cy="4445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60020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 b="1">
                <a:solidFill>
                  <a:srgbClr val="111111"/>
                </a:solidFill>
                <a:latin typeface="Calibri"/>
              </a:rPr>
              <a:t>Neither source alone is sufficient.</a:t>
            </a: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1C5CAB"/>
                </a:solidFill>
                <a:latin typeface="Calibri"/>
              </a:rPr>
              <a:t>CMS Provider of Services</a:t>
            </a:r>
          </a:p>
          <a:p>
            <a:pPr algn="l">
              <a:spcAft>
                <a:spcPts val="1200"/>
              </a:spcAft>
            </a:pPr>
            <a:r>
              <a:rPr sz="1350" b="0">
                <a:solidFill>
                  <a:srgbClr val="52514E"/>
                </a:solidFill>
                <a:latin typeface="Calibri"/>
              </a:rPr>
              <a:t>Knows WHICH hospitals provide obstetrics. Carries no coordinates.</a:t>
            </a: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1C5CAB"/>
                </a:solidFill>
                <a:latin typeface="Calibri"/>
              </a:rPr>
              <a:t>HIFLD hospitals</a:t>
            </a:r>
          </a:p>
          <a:p>
            <a:pPr algn="l">
              <a:spcAft>
                <a:spcPts val="1400"/>
              </a:spcAft>
            </a:pPr>
            <a:r>
              <a:rPr sz="1350" b="0">
                <a:solidFill>
                  <a:srgbClr val="52514E"/>
                </a:solidFill>
                <a:latin typeface="Calibri"/>
              </a:rPr>
              <a:t>Knows WHERE hospitals are (876 in Texas). Does not record obstetric service.</a:t>
            </a:r>
          </a:p>
          <a:p>
            <a:pPr algn="l">
              <a:spcAft>
                <a:spcPts val="1400"/>
              </a:spcAft>
            </a:pPr>
            <a:r>
              <a:rPr sz="1400" b="1">
                <a:solidFill>
                  <a:srgbClr val="B94B21"/>
                </a:solidFill>
                <a:latin typeface="Calibri"/>
              </a:rPr>
              <a:t>Neither carries the other's identifier — so they must be matched.</a:t>
            </a:r>
          </a:p>
          <a:p>
            <a:pPr algn="l">
              <a:spcAft>
                <a:spcPts val="0"/>
              </a:spcAft>
            </a:pPr>
            <a:r>
              <a:rPr sz="1250" b="0">
                <a:solidFill>
                  <a:srgbClr val="8A8983"/>
                </a:solidFill>
                <a:latin typeface="Calibri"/>
              </a:rPr>
              <a:t>Note: the project's “CMOS” files are the CMS Provider of Services extract, confirmed from its own 733-page record layout — not a Texas HHS registry as previously assumed.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263640" y="2194560"/>
          <a:ext cx="5303518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79"/>
                <a:gridCol w="2377439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Eligibility rule</a:t>
                      </a:r>
                    </a:p>
                  </a:txBody>
                  <a:tcPr marL="64008" marR="64008" marT="0" marB="0">
                    <a:solidFill>
                      <a:srgbClr val="1C5CA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Effect</a:t>
                      </a:r>
                    </a:p>
                  </a:txBody>
                  <a:tcPr marL="64008" marR="64008" marT="0" marB="0">
                    <a:solidFill>
                      <a:srgbClr val="1C5CA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11111"/>
                          </a:solidFill>
                          <a:latin typeface="Calibri"/>
                        </a:rPr>
                        <a:t>OB_SRVC_CD = 1 or 3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11111"/>
                          </a:solidFill>
                          <a:latin typeface="Calibri"/>
                        </a:rPr>
                        <a:t>obstetrics provided ON SITE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11111"/>
                          </a:solidFill>
                          <a:latin typeface="Calibri"/>
                        </a:rPr>
                        <a:t>OB_SRVC_CD = 2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11111"/>
                          </a:solidFill>
                          <a:latin typeface="Calibri"/>
                        </a:rPr>
                        <a:t>under arrangement — excluded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11111"/>
                          </a:solidFill>
                          <a:latin typeface="Calibri"/>
                        </a:rPr>
                        <a:t>PGM_TRMNTN_CD = 00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11111"/>
                          </a:solidFill>
                          <a:latin typeface="Calibri"/>
                        </a:rPr>
                        <a:t>active provider only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11111"/>
                          </a:solidFill>
                          <a:latin typeface="Calibri"/>
                        </a:rPr>
                        <a:t>→ eligible Texas hospitals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11111"/>
                          </a:solidFill>
                          <a:latin typeface="Calibri"/>
                        </a:rPr>
                        <a:t>211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11111"/>
                          </a:solidFill>
                          <a:latin typeface="Calibri"/>
                        </a:rPr>
                        <a:t>→ of which NICU on site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11111"/>
                          </a:solidFill>
                          <a:latin typeface="Calibri"/>
                        </a:rPr>
                        <a:t>117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263640" y="4114800"/>
            <a:ext cx="53035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52514E"/>
                </a:solidFill>
                <a:latin typeface="Calibri"/>
              </a:rPr>
              <a:t>Codes are quoted from the CMS record layout, not inferred:</a:t>
            </a:r>
          </a:p>
          <a:p>
            <a:pPr algn="l">
              <a:spcAft>
                <a:spcPts val="0"/>
              </a:spcAft>
            </a:pPr>
            <a:r>
              <a:rPr sz="1150" b="0">
                <a:solidFill>
                  <a:srgbClr val="8A8983"/>
                </a:solidFill>
                <a:latin typeface="Calibri"/>
              </a:rPr>
              <a:t>0 = NOT PROVIDED · 1 = BY STAFF · 2 = UNDER ARRANGEMENT · 3 = BOTH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32764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8A8983"/>
                </a:solidFill>
                <a:latin typeface="Calibri"/>
              </a:rPr>
              <a:t>Slide 7 of 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2A78D6"/>
                </a:solidFill>
                <a:latin typeface="Calibri"/>
              </a:rPr>
              <a:t>WHAT WAS WRONG</a:t>
            </a:r>
          </a:p>
          <a:p>
            <a:pPr algn="l">
              <a:spcAft>
                <a:spcPts val="0"/>
              </a:spcAft>
            </a:pPr>
            <a:r>
              <a:rPr sz="2700" b="1">
                <a:solidFill>
                  <a:srgbClr val="111111"/>
                </a:solidFill>
                <a:latin typeface="Calibri"/>
              </a:rPr>
              <a:t>Discrepancy #1 — the exact-name join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298448"/>
            <a:ext cx="1371600" cy="4445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55448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52514E"/>
                </a:solidFill>
                <a:latin typeface="Calibri"/>
              </a:rPr>
              <a:t>The original facility list was built with one line: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03938"/>
                </a:solidFill>
                <a:latin typeface="Consolas"/>
              </a:rPr>
              <a:t>    matched_df = df2[df2['NAME'].isin(df1['FAC_NAME'])]</a:t>
            </a:r>
          </a:p>
          <a:p>
            <a:pPr algn="l">
              <a:spcAft>
                <a:spcPts val="0"/>
              </a:spcAft>
            </a:pPr>
            <a:r>
              <a:rPr sz="1350" b="0">
                <a:solidFill>
                  <a:srgbClr val="52514E"/>
                </a:solidFill>
                <a:latin typeface="Calibri"/>
              </a:rPr>
              <a:t>An exact, case-sensitive string equality between two agencies' spellings of a hospital name. It fails silently — no error, just a smaller table that looks plausible.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94360" y="3108960"/>
          <a:ext cx="10972799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3643"/>
                <a:gridCol w="4547286"/>
                <a:gridCol w="4151870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What it dropped</a:t>
                      </a:r>
                    </a:p>
                  </a:txBody>
                  <a:tcPr marL="64008" marR="64008" marT="0" marB="0">
                    <a:solidFill>
                      <a:srgbClr val="1C5CA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CMS name</a:t>
                      </a:r>
                    </a:p>
                  </a:txBody>
                  <a:tcPr marL="64008" marR="64008" marT="0" marB="0">
                    <a:solidFill>
                      <a:srgbClr val="1C5CA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HIFLD name</a:t>
                      </a:r>
                    </a:p>
                  </a:txBody>
                  <a:tcPr marL="64008" marR="64008" marT="0" marB="0">
                    <a:solidFill>
                      <a:srgbClr val="1C5CA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Acronym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BSA HOSPITAL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BAPTIST ST ANTHONYS HOSPITAL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Corporate rename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PARKLAND HEALTH AND HOSPITAL SYSTEM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PARKLAND MEMORIAL HOSPITAL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“System” vs site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UNIVERSITY HEALTH SYSTEM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UNIVERSITY HOSPITAL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Punctuation / abbrev.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ST. vs SAINT, MED CTR vs MEDICAL CENTER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94360" y="489204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B94B21"/>
                </a:solidFill>
                <a:latin typeface="Calibri"/>
              </a:rPr>
              <a:t>Symptom that gave it away:</a:t>
            </a:r>
          </a:p>
          <a:p>
            <a:pPr algn="l">
              <a:spcAft>
                <a:spcPts val="0"/>
              </a:spcAft>
            </a:pPr>
            <a:r>
              <a:rPr sz="1350" b="0">
                <a:solidFill>
                  <a:srgbClr val="52514E"/>
                </a:solidFill>
                <a:latin typeface="Calibri"/>
              </a:rPr>
              <a:t>Jefferson County — Beaumont, population 256,526 — showed ZERO obstetric facilities and a 61.6-minute mean drive time. The second-worst county in Texas, in a metro of 400,000. That is not a finding about Texas; it is a defect in the input.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32764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8A8983"/>
                </a:solidFill>
                <a:latin typeface="Calibri"/>
              </a:rPr>
              <a:t>Slide 8 of 15 · The old join matched 136 of 211 eligible hospitals (64%)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2A78D6"/>
                </a:solidFill>
                <a:latin typeface="Calibri"/>
              </a:rPr>
              <a:t>HOW WE CORRECTED IT</a:t>
            </a:r>
          </a:p>
          <a:p>
            <a:pPr algn="l">
              <a:spcAft>
                <a:spcPts val="0"/>
              </a:spcAft>
            </a:pPr>
            <a:r>
              <a:rPr sz="2700" b="1">
                <a:solidFill>
                  <a:srgbClr val="111111"/>
                </a:solidFill>
                <a:latin typeface="Calibri"/>
              </a:rPr>
              <a:t>Discrepancy #2 and the fix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298448"/>
            <a:ext cx="1371600" cy="4445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536192"/>
            <a:ext cx="53949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C03938"/>
                </a:solidFill>
                <a:latin typeface="Calibri"/>
              </a:rPr>
              <a:t>#2 — Closed hospitals counted as open</a:t>
            </a:r>
          </a:p>
          <a:p>
            <a:pPr algn="l">
              <a:spcAft>
                <a:spcPts val="1000"/>
              </a:spcAft>
            </a:pPr>
            <a:r>
              <a:rPr sz="1350" b="0">
                <a:solidFill>
                  <a:srgbClr val="52514E"/>
                </a:solidFill>
                <a:latin typeface="Calibri"/>
              </a:rPr>
              <a:t>The old join never filtered PGM_TRMNTN_CD. Of 377 Texas records reporting obstetric service, 163 were TERMINATED providers — merged, closed, or decertified — and were being counted as operating facilities.</a:t>
            </a:r>
          </a:p>
          <a:p>
            <a:pPr algn="l">
              <a:spcAft>
                <a:spcPts val="0"/>
              </a:spcAft>
            </a:pPr>
            <a:r>
              <a:rPr sz="1350" b="1">
                <a:solidFill>
                  <a:srgbClr val="B94B21"/>
                </a:solidFill>
                <a:latin typeface="Calibri"/>
              </a:rPr>
              <a:t>Both errors push the same way: they manufacture deserts.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657600"/>
            <a:ext cx="53949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0E7A53"/>
                </a:solidFill>
                <a:latin typeface="Calibri"/>
              </a:rPr>
              <a:t>The fix: progressive matching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52514E"/>
                </a:solidFill>
                <a:latin typeface="Calibri"/>
              </a:rPr>
              <a:t>Address passes run BEFORE loose fuzzy-name passes, on purpose: a shared street number and street name is far stronger evidence of identity than a similar corporate name.</a:t>
            </a:r>
          </a:p>
          <a:p>
            <a:pPr algn="l">
              <a:spcAft>
                <a:spcPts val="0"/>
              </a:spcAft>
            </a:pPr>
            <a:r>
              <a:rPr sz="1400" b="1">
                <a:solidFill>
                  <a:srgbClr val="1C5CAB"/>
                </a:solidFill>
                <a:latin typeface="Calibri"/>
              </a:rPr>
              <a:t>Hospitals get renamed. They do not move.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263640" y="1783080"/>
          <a:ext cx="5303519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95606"/>
                <a:gridCol w="1707913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Matching pass</a:t>
                      </a:r>
                    </a:p>
                  </a:txBody>
                  <a:tcPr marL="64008" marR="64008" marT="0" marB="0">
                    <a:solidFill>
                      <a:srgbClr val="1C5CA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Matched</a:t>
                      </a:r>
                    </a:p>
                  </a:txBody>
                  <a:tcPr marL="64008" marR="64008" marT="0" marB="0">
                    <a:solidFill>
                      <a:srgbClr val="1C5CA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1. exact name + ZIP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145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2. exact name + city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3. address + ZIP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39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4. address + city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5. fuzzy name + ZIP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7. fuzzy address + city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TOTAL automatic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207 of 211 (98.1%)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Residual → ZIP centroid, flagged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263640" y="4206240"/>
            <a:ext cx="1633728" cy="1170432"/>
          </a:xfrm>
          <a:prstGeom prst="roundRect">
            <a:avLst/>
          </a:prstGeom>
          <a:solidFill>
            <a:srgbClr val="EEF4FD"/>
          </a:solidFill>
          <a:ln>
            <a:solidFill>
              <a:srgbClr val="D5E3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>
              <a:spcAft>
                <a:spcPts val="100"/>
              </a:spcAft>
            </a:pPr>
            <a:r>
              <a:rPr sz="2500" b="1">
                <a:solidFill>
                  <a:srgbClr val="0E7A53"/>
                </a:solidFill>
                <a:latin typeface="Calibri"/>
              </a:rPr>
              <a:t>170 → 211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52514E"/>
                </a:solidFill>
                <a:latin typeface="Calibri"/>
              </a:rPr>
              <a:t>facilities identified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98536" y="4206240"/>
            <a:ext cx="1633728" cy="1170432"/>
          </a:xfrm>
          <a:prstGeom prst="roundRect">
            <a:avLst/>
          </a:prstGeom>
          <a:solidFill>
            <a:srgbClr val="EEF4FD"/>
          </a:solidFill>
          <a:ln>
            <a:solidFill>
              <a:srgbClr val="D5E3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>
              <a:spcAft>
                <a:spcPts val="100"/>
              </a:spcAft>
            </a:pPr>
            <a:r>
              <a:rPr sz="2500" b="1">
                <a:solidFill>
                  <a:srgbClr val="0E7A53"/>
                </a:solidFill>
                <a:latin typeface="Calibri"/>
              </a:rPr>
              <a:t>61.6 → 18.7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52514E"/>
                </a:solidFill>
                <a:latin typeface="Calibri"/>
              </a:rPr>
              <a:t>Jefferson Co. mean drive (min)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933432" y="4206240"/>
            <a:ext cx="1633728" cy="1170432"/>
          </a:xfrm>
          <a:prstGeom prst="roundRect">
            <a:avLst/>
          </a:prstGeom>
          <a:solidFill>
            <a:srgbClr val="EEF4FD"/>
          </a:solidFill>
          <a:ln>
            <a:solidFill>
              <a:srgbClr val="D5E3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>
              <a:spcAft>
                <a:spcPts val="100"/>
              </a:spcAft>
            </a:pPr>
            <a:r>
              <a:rPr sz="2500" b="1">
                <a:solidFill>
                  <a:srgbClr val="0E7A53"/>
                </a:solidFill>
                <a:latin typeface="Calibri"/>
              </a:rPr>
              <a:t>−59%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52514E"/>
                </a:solidFill>
                <a:latin typeface="Calibri"/>
              </a:rPr>
              <a:t>change in Texans beyond 30 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32764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8A8983"/>
                </a:solidFill>
                <a:latin typeface="Calibri"/>
              </a:rPr>
              <a:t>Slide 9 of 15 · Worst-county list now shows remote West Texas, not the Beaumont metro — the face-validity check that the fix worked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2A78D6"/>
                </a:solidFill>
                <a:latin typeface="Calibri"/>
              </a:rPr>
              <a:t>STEP 03</a:t>
            </a:r>
          </a:p>
          <a:p>
            <a:pPr algn="l">
              <a:spcAft>
                <a:spcPts val="0"/>
              </a:spcAft>
            </a:pPr>
            <a:r>
              <a:rPr sz="2700" b="1">
                <a:solidFill>
                  <a:srgbClr val="111111"/>
                </a:solidFill>
                <a:latin typeface="Calibri"/>
              </a:rPr>
              <a:t>Building the road network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298448"/>
            <a:ext cx="1371600" cy="4445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600200"/>
            <a:ext cx="55778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500" b="1">
                <a:solidFill>
                  <a:srgbClr val="111111"/>
                </a:solidFill>
                <a:latin typeface="Calibri"/>
              </a:rPr>
              <a:t>Source: OpenStreetMap Texas extract (Geofabrik), MD5-verified.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52514E"/>
                </a:solidFill>
                <a:latin typeface="Calibri"/>
              </a:rPr>
              <a:t>•  Kept: motorway, trunk, primary, secondary, tertiary, unclassified, residential, living_street + all link ramps.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52514E"/>
                </a:solidFill>
                <a:latin typeface="Calibri"/>
              </a:rPr>
              <a:t>•  Excluded: service roads (driveways, parking aisles) — 1.93M ways. A route therefore ends at the public road nearest the hospital, a median of 95 m from it.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52514E"/>
                </a:solidFill>
                <a:latin typeface="Calibri"/>
              </a:rPr>
              <a:t>•  Excluded: ways barred to motor vehicles (access = no / private / customers…) — 32,502 ways.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52514E"/>
                </a:solidFill>
                <a:latin typeface="Calibri"/>
              </a:rPr>
              <a:t>•  Directed graph: one-way streets and roundabouts are honoured.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52514E"/>
                </a:solidFill>
                <a:latin typeface="Calibri"/>
              </a:rPr>
              <a:t>•  Edge length is GEODESIC on the WGS84 ellipsoid — not a projected approximation. Texas spans 13° of longitude, where projection distortion would be measurable.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2011680"/>
          <a:ext cx="4983479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42712"/>
                <a:gridCol w="1689315"/>
                <a:gridCol w="1351452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Road class</a:t>
                      </a:r>
                    </a:p>
                  </a:txBody>
                  <a:tcPr marL="64008" marR="64008" marT="0" marB="0">
                    <a:solidFill>
                      <a:srgbClr val="1C5CA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Segments</a:t>
                      </a:r>
                    </a:p>
                  </a:txBody>
                  <a:tcPr marL="64008" marR="64008" marT="0" marB="0">
                    <a:solidFill>
                      <a:srgbClr val="1C5CA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km</a:t>
                      </a:r>
                    </a:p>
                  </a:txBody>
                  <a:tcPr marL="64008" marR="64008" marT="0" marB="0">
                    <a:solidFill>
                      <a:srgbClr val="1C5CA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residential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15,624,231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958,560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tertiary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1,961,368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124,110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secondary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1,569,187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119,955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unclassified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1,170,841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87,278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primary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544,862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54,402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trunk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237,239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30,806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motorway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138,596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18,012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583680" y="4663440"/>
            <a:ext cx="1527048" cy="1170432"/>
          </a:xfrm>
          <a:prstGeom prst="roundRect">
            <a:avLst/>
          </a:prstGeom>
          <a:solidFill>
            <a:srgbClr val="EEF4FD"/>
          </a:solidFill>
          <a:ln>
            <a:solidFill>
              <a:srgbClr val="D5E3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>
              <a:spcAft>
                <a:spcPts val="100"/>
              </a:spcAft>
            </a:pPr>
            <a:r>
              <a:rPr sz="2500" b="1">
                <a:solidFill>
                  <a:srgbClr val="1C5CAB"/>
                </a:solidFill>
                <a:latin typeface="Calibri"/>
              </a:rPr>
              <a:t>11.0M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52514E"/>
                </a:solidFill>
                <a:latin typeface="Calibri"/>
              </a:rPr>
              <a:t>network nodes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11896" y="4663440"/>
            <a:ext cx="1527048" cy="1170432"/>
          </a:xfrm>
          <a:prstGeom prst="roundRect">
            <a:avLst/>
          </a:prstGeom>
          <a:solidFill>
            <a:srgbClr val="EEF4FD"/>
          </a:solidFill>
          <a:ln>
            <a:solidFill>
              <a:srgbClr val="D5E3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>
              <a:spcAft>
                <a:spcPts val="100"/>
              </a:spcAft>
            </a:pPr>
            <a:r>
              <a:rPr sz="2500" b="1">
                <a:solidFill>
                  <a:srgbClr val="1C5CAB"/>
                </a:solidFill>
                <a:latin typeface="Calibri"/>
              </a:rPr>
              <a:t>21.6M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52514E"/>
                </a:solidFill>
                <a:latin typeface="Calibri"/>
              </a:rPr>
              <a:t>directed edges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40112" y="4663440"/>
            <a:ext cx="1527048" cy="1170432"/>
          </a:xfrm>
          <a:prstGeom prst="roundRect">
            <a:avLst/>
          </a:prstGeom>
          <a:solidFill>
            <a:srgbClr val="EEF4FD"/>
          </a:solidFill>
          <a:ln>
            <a:solidFill>
              <a:srgbClr val="D5E3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>
              <a:spcAft>
                <a:spcPts val="100"/>
              </a:spcAft>
            </a:pPr>
            <a:r>
              <a:rPr sz="2500" b="1">
                <a:solidFill>
                  <a:srgbClr val="1C5CAB"/>
                </a:solidFill>
                <a:latin typeface="Calibri"/>
              </a:rPr>
              <a:t>~700k km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52514E"/>
                </a:solidFill>
                <a:latin typeface="Calibri"/>
              </a:rPr>
              <a:t>of centreline road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32764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8A8983"/>
                </a:solidFill>
                <a:latin typeface="Calibri"/>
              </a:rPr>
              <a:t>Slide 10 of 15 · Parsed in 36 s, peak memory 2.2 GB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2A78D6"/>
                </a:solidFill>
                <a:latin typeface="Calibri"/>
              </a:rPr>
              <a:t>THE BIGGEST ASSUMPTION</a:t>
            </a:r>
          </a:p>
          <a:p>
            <a:pPr algn="l">
              <a:spcAft>
                <a:spcPts val="0"/>
              </a:spcAft>
            </a:pPr>
            <a:r>
              <a:rPr sz="2700" b="1">
                <a:solidFill>
                  <a:srgbClr val="111111"/>
                </a:solidFill>
                <a:latin typeface="Calibri"/>
              </a:rPr>
              <a:t>How driving time was calculated — and what we assumed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298448"/>
            <a:ext cx="1371600" cy="4445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572768"/>
            <a:ext cx="55778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100"/>
              </a:spcAft>
            </a:pPr>
            <a:r>
              <a:rPr sz="1500" b="1">
                <a:solidFill>
                  <a:srgbClr val="B94B21"/>
                </a:solidFill>
                <a:latin typeface="Calibri"/>
              </a:rPr>
              <a:t>Only 20.06% of road segments carry a posted maxspeed tag in OSM.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52514E"/>
                </a:solidFill>
                <a:latin typeface="Calibri"/>
              </a:rPr>
              <a:t>•  Where OSM has a posted limit, we use it (parsing “60”, “60 mph”, “100 km/h”; a bare number means km/h per the OSM specification).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52514E"/>
                </a:solidFill>
                <a:latin typeface="Calibri"/>
              </a:rPr>
              <a:t>•  For the other ~80%, we apply a free-flow default by road class — the table on the right. These are OUR assumptions, chosen to reflect typical Texas posted limits. They are not taken from any cited source, and they are recorded in network_meta.json so any run can be audited.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52514E"/>
                </a:solidFill>
                <a:latin typeface="Calibri"/>
              </a:rPr>
              <a:t>•  Time = geodesic segment length ÷ assigned speed.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52514E"/>
                </a:solidFill>
                <a:latin typeface="Calibri"/>
              </a:rPr>
              <a:t>•  Off-network “last mile”: the straight-line distance from a centroid to the nearest road is added back at an assumed 30 mph.</a:t>
            </a:r>
          </a:p>
          <a:p>
            <a:pPr algn="l">
              <a:spcAft>
                <a:spcPts val="700"/>
              </a:spcAft>
            </a:pPr>
            <a:r>
              <a:rPr sz="1450" b="1">
                <a:solidFill>
                  <a:srgbClr val="C03938"/>
                </a:solidFill>
                <a:latin typeface="Calibri"/>
              </a:rPr>
              <a:t>What this means, stated plainly</a:t>
            </a:r>
          </a:p>
          <a:p>
            <a:pPr algn="l">
              <a:spcAft>
                <a:spcPts val="0"/>
              </a:spcAft>
            </a:pPr>
            <a:r>
              <a:rPr sz="1250" b="0">
                <a:solidFill>
                  <a:srgbClr val="52514E"/>
                </a:solidFill>
                <a:latin typeface="Calibri"/>
              </a:rPr>
              <a:t>Travel times contain no congestion, no signal delay and no turn restrictions — they are BEST-CASE. Urban times are understated more than rural ones, so the reported urban–rural gap is conservative. Distances do not depend on speed at all and are the more robust metric.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720840" y="1783080"/>
          <a:ext cx="484632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1737360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Road class</a:t>
                      </a:r>
                    </a:p>
                  </a:txBody>
                  <a:tcPr marL="64008" marR="64008" marT="0" marB="0">
                    <a:solidFill>
                      <a:srgbClr val="1C5CA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Assumed mph</a:t>
                      </a:r>
                    </a:p>
                  </a:txBody>
                  <a:tcPr marL="64008" marR="64008" marT="0" marB="0">
                    <a:solidFill>
                      <a:srgbClr val="1C5CA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motorway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70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trunk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65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primary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60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secondary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55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tertiary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45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unclassified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40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residential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living_street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motorway_link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45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trunk_link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40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primary / secondary_link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tertiary_link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off-network last mile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632764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8A8983"/>
                </a:solidFill>
                <a:latin typeface="Calibri"/>
              </a:rPr>
              <a:t>Slide 11 of 15 · Validating these against a commercial routing engine is Aim 1 of the proposal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2A78D6"/>
                </a:solidFill>
                <a:latin typeface="Calibri"/>
              </a:rPr>
              <a:t>STEP 04</a:t>
            </a:r>
          </a:p>
          <a:p>
            <a:pPr algn="l">
              <a:spcAft>
                <a:spcPts val="0"/>
              </a:spcAft>
            </a:pPr>
            <a:r>
              <a:rPr sz="2700" b="1">
                <a:solidFill>
                  <a:srgbClr val="111111"/>
                </a:solidFill>
                <a:latin typeface="Calibri"/>
              </a:rPr>
              <a:t>The routing algorithm — why this is fast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298448"/>
            <a:ext cx="1371600" cy="4445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572768"/>
            <a:ext cx="56692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600" b="1">
                <a:solidFill>
                  <a:srgbClr val="C03938"/>
                </a:solidFill>
                <a:latin typeface="Calibri"/>
              </a:rPr>
              <a:t>The naive framing is unaffordable.</a:t>
            </a:r>
          </a:p>
          <a:p>
            <a:pPr algn="l">
              <a:spcAft>
                <a:spcPts val="1300"/>
              </a:spcAft>
            </a:pPr>
            <a:r>
              <a:rPr sz="1350" b="0">
                <a:solidFill>
                  <a:srgbClr val="52514E"/>
                </a:solidFill>
                <a:latin typeface="Calibri"/>
              </a:rPr>
              <a:t>668,757 blocks × 211 facilities = 141 million origin–destination pairs. No routing API prices that. This is exactly why comparable studies sample, aggregate to counties, or fall back to straight lines.</a:t>
            </a:r>
          </a:p>
          <a:p>
            <a:pPr algn="l">
              <a:spcAft>
                <a:spcPts val="900"/>
              </a:spcAft>
            </a:pPr>
            <a:r>
              <a:rPr sz="1600" b="1">
                <a:solidFill>
                  <a:srgbClr val="0E7A53"/>
                </a:solidFill>
                <a:latin typeface="Calibri"/>
              </a:rPr>
              <a:t>The reformulation</a:t>
            </a:r>
          </a:p>
          <a:p>
            <a:pPr algn="l">
              <a:spcAft>
                <a:spcPts val="1300"/>
              </a:spcAft>
            </a:pPr>
            <a:r>
              <a:rPr sz="1350" b="0">
                <a:solidFill>
                  <a:srgbClr val="52514E"/>
                </a:solidFill>
                <a:latin typeface="Calibri"/>
              </a:rPr>
              <a:t>Only the NEAREST facility matters. So seed a single Dijkstra search with all 211 facilities at once. Relaxing outward, it labels every node in Texas with its cost to the closest facility — and which one — in one pass.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1C5CAB"/>
                </a:solidFill>
                <a:latin typeface="Calibri"/>
              </a:rPr>
              <a:t>Direction is handled correctly.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52514E"/>
                </a:solidFill>
                <a:latin typeface="Calibri"/>
              </a:rPr>
              <a:t>A multi-source search on the graph gives cost(facility → block). We need cost(block → facility) — a patient travelling TO care. On a one-way network those differ, so the search runs on the TRANSPOSED graph. Most comparable studies quietly assume symmetry.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0" y="1920240"/>
            <a:ext cx="2345436" cy="1170432"/>
          </a:xfrm>
          <a:prstGeom prst="roundRect">
            <a:avLst/>
          </a:prstGeom>
          <a:solidFill>
            <a:srgbClr val="EEF4FD"/>
          </a:solidFill>
          <a:ln>
            <a:solidFill>
              <a:srgbClr val="D5E3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>
              <a:spcAft>
                <a:spcPts val="100"/>
              </a:spcAft>
            </a:pPr>
            <a:r>
              <a:rPr sz="2500" b="1">
                <a:solidFill>
                  <a:srgbClr val="0E7A53"/>
                </a:solidFill>
                <a:latin typeface="Calibri"/>
              </a:rPr>
              <a:t>~3 sec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52514E"/>
                </a:solidFill>
                <a:latin typeface="Calibri"/>
              </a:rPr>
              <a:t>per pass over 11M nodes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221724" y="1920240"/>
            <a:ext cx="2345436" cy="1170432"/>
          </a:xfrm>
          <a:prstGeom prst="roundRect">
            <a:avLst/>
          </a:prstGeom>
          <a:solidFill>
            <a:srgbClr val="EEF4FD"/>
          </a:solidFill>
          <a:ln>
            <a:solidFill>
              <a:srgbClr val="D5E3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>
              <a:spcAft>
                <a:spcPts val="100"/>
              </a:spcAft>
            </a:pPr>
            <a:r>
              <a:rPr sz="2500" b="1">
                <a:solidFill>
                  <a:srgbClr val="0E7A53"/>
                </a:solidFill>
                <a:latin typeface="Calibri"/>
              </a:rPr>
              <a:t>0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52514E"/>
                </a:solidFill>
                <a:latin typeface="Calibri"/>
              </a:rPr>
              <a:t>API calls / recurring cost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3383280"/>
            <a:ext cx="48920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100"/>
              </a:spcAft>
            </a:pPr>
            <a:r>
              <a:rPr sz="1300" b="0">
                <a:solidFill>
                  <a:srgbClr val="52514E"/>
                </a:solidFill>
                <a:latin typeface="Calibri"/>
              </a:rPr>
              <a:t>Two passes are run: one weighted by segment length (distance), one by segment time (travel time).</a:t>
            </a:r>
          </a:p>
          <a:p>
            <a:pPr algn="l">
              <a:spcAft>
                <a:spcPts val="1100"/>
              </a:spcAft>
            </a:pPr>
            <a:r>
              <a:rPr sz="1350" b="1">
                <a:solidFill>
                  <a:srgbClr val="111111"/>
                </a:solidFill>
                <a:latin typeface="Calibri"/>
              </a:rPr>
              <a:t>Every block is computed exactly. Nothing is sampled, interpolated or extrapolated.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B94B21"/>
                </a:solidFill>
                <a:latin typeface="Calibri"/>
              </a:rPr>
              <a:t>Road detour ratio: 1.33×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52514E"/>
                </a:solidFill>
                <a:latin typeface="Calibri"/>
              </a:rPr>
              <a:t>Road travel is a third longer than straight-line distance, population-weighted. A buffer-based analysis understates real travel by that much.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32764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8A8983"/>
                </a:solidFill>
                <a:latin typeface="Calibri"/>
              </a:rPr>
              <a:t>Slide 12 of 15 · This is what makes an interactive planning tool possible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2A78D6"/>
                </a:solidFill>
                <a:latin typeface="Calibri"/>
              </a:rPr>
              <a:t>RESULTS</a:t>
            </a:r>
          </a:p>
          <a:p>
            <a:pPr algn="l">
              <a:spcAft>
                <a:spcPts val="0"/>
              </a:spcAft>
            </a:pPr>
            <a:r>
              <a:rPr sz="2700" b="1">
                <a:solidFill>
                  <a:srgbClr val="111111"/>
                </a:solidFill>
                <a:latin typeface="Calibri"/>
              </a:rPr>
              <a:t>What we found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298448"/>
            <a:ext cx="1371600" cy="4445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roposal_fig1_access_landsca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6137" y="1207008"/>
            <a:ext cx="5699420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632764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8A8983"/>
                </a:solidFill>
                <a:latin typeface="Calibri"/>
              </a:rPr>
              <a:t>Slide 13 of 15 · (a) road distance to any obstetric facility (km)  (b) drive time to NICU-capable (min — different unit)  (c) population by distance band  (d) hospital but no obstetric unit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2A78D6"/>
                </a:solidFill>
                <a:latin typeface="Calibri"/>
              </a:rPr>
              <a:t>RESULTS</a:t>
            </a:r>
          </a:p>
          <a:p>
            <a:pPr algn="l">
              <a:spcAft>
                <a:spcPts val="0"/>
              </a:spcAft>
            </a:pPr>
            <a:r>
              <a:rPr sz="2700" b="1">
                <a:solidFill>
                  <a:srgbClr val="111111"/>
                </a:solidFill>
                <a:latin typeface="Calibri"/>
              </a:rPr>
              <a:t>Access for women aged 15–44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298448"/>
            <a:ext cx="1371600" cy="4445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94360" y="1536192"/>
            <a:ext cx="2033625" cy="1170432"/>
          </a:xfrm>
          <a:prstGeom prst="roundRect">
            <a:avLst/>
          </a:prstGeom>
          <a:solidFill>
            <a:srgbClr val="EEF4FD"/>
          </a:solidFill>
          <a:ln>
            <a:solidFill>
              <a:srgbClr val="D5E3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>
              <a:spcAft>
                <a:spcPts val="100"/>
              </a:spcAft>
            </a:pPr>
            <a:r>
              <a:rPr sz="2500" b="1">
                <a:solidFill>
                  <a:srgbClr val="1C5CAB"/>
                </a:solidFill>
                <a:latin typeface="Calibri"/>
              </a:rPr>
              <a:t>95.8%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52514E"/>
                </a:solidFill>
                <a:latin typeface="Calibri"/>
              </a:rPr>
              <a:t>within 25 miles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829153" y="1536192"/>
            <a:ext cx="2033625" cy="1170432"/>
          </a:xfrm>
          <a:prstGeom prst="roundRect">
            <a:avLst/>
          </a:prstGeom>
          <a:solidFill>
            <a:srgbClr val="EEF4FD"/>
          </a:solidFill>
          <a:ln>
            <a:solidFill>
              <a:srgbClr val="D5E3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>
              <a:spcAft>
                <a:spcPts val="100"/>
              </a:spcAft>
            </a:pPr>
            <a:r>
              <a:rPr sz="2500" b="1">
                <a:solidFill>
                  <a:srgbClr val="1C5CAB"/>
                </a:solidFill>
                <a:latin typeface="Calibri"/>
              </a:rPr>
              <a:t>98.6%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52514E"/>
                </a:solidFill>
                <a:latin typeface="Calibri"/>
              </a:rPr>
              <a:t>within 35 miles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63946" y="1536192"/>
            <a:ext cx="2033625" cy="1170432"/>
          </a:xfrm>
          <a:prstGeom prst="roundRect">
            <a:avLst/>
          </a:prstGeom>
          <a:solidFill>
            <a:srgbClr val="EEF4FD"/>
          </a:solidFill>
          <a:ln>
            <a:solidFill>
              <a:srgbClr val="D5E3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>
              <a:spcAft>
                <a:spcPts val="100"/>
              </a:spcAft>
            </a:pPr>
            <a:r>
              <a:rPr sz="2500" b="1">
                <a:solidFill>
                  <a:srgbClr val="1C5CAB"/>
                </a:solidFill>
                <a:latin typeface="Calibri"/>
              </a:rPr>
              <a:t>99.7%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52514E"/>
                </a:solidFill>
                <a:latin typeface="Calibri"/>
              </a:rPr>
              <a:t>within 50 miles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98739" y="1536192"/>
            <a:ext cx="2033625" cy="1170432"/>
          </a:xfrm>
          <a:prstGeom prst="roundRect">
            <a:avLst/>
          </a:prstGeom>
          <a:solidFill>
            <a:srgbClr val="EEF4FD"/>
          </a:solidFill>
          <a:ln>
            <a:solidFill>
              <a:srgbClr val="D5E3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>
              <a:spcAft>
                <a:spcPts val="100"/>
              </a:spcAft>
            </a:pPr>
            <a:r>
              <a:rPr sz="2500" b="1">
                <a:solidFill>
                  <a:srgbClr val="1C5CAB"/>
                </a:solidFill>
                <a:latin typeface="Calibri"/>
              </a:rPr>
              <a:t>97.0%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52514E"/>
                </a:solidFill>
                <a:latin typeface="Calibri"/>
              </a:rPr>
              <a:t>within 30 min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533532" y="1536192"/>
            <a:ext cx="2033625" cy="1170432"/>
          </a:xfrm>
          <a:prstGeom prst="roundRect">
            <a:avLst/>
          </a:prstGeom>
          <a:solidFill>
            <a:srgbClr val="EEF4FD"/>
          </a:solidFill>
          <a:ln>
            <a:solidFill>
              <a:srgbClr val="D5E3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>
              <a:spcAft>
                <a:spcPts val="100"/>
              </a:spcAft>
            </a:pPr>
            <a:r>
              <a:rPr sz="2500" b="1">
                <a:solidFill>
                  <a:srgbClr val="C03938"/>
                </a:solidFill>
                <a:latin typeface="Calibri"/>
              </a:rPr>
              <a:t>90.6%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52514E"/>
                </a:solidFill>
                <a:latin typeface="Calibri"/>
              </a:rPr>
              <a:t>within 30 min of a NICU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926080"/>
            <a:ext cx="55778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 b="1">
                <a:solidFill>
                  <a:srgbClr val="111111"/>
                </a:solidFill>
                <a:latin typeface="Calibri"/>
              </a:rPr>
              <a:t>The headline is the gap, not the level.</a:t>
            </a:r>
          </a:p>
          <a:p>
            <a:pPr algn="l">
              <a:spcAft>
                <a:spcPts val="1200"/>
              </a:spcAft>
            </a:pPr>
            <a:r>
              <a:rPr sz="1400" b="0">
                <a:solidFill>
                  <a:srgbClr val="52514E"/>
                </a:solidFill>
                <a:latin typeface="Calibri"/>
              </a:rPr>
              <a:t>Only 185,185 women aged 15–44 live more than 30 minutes from an obstetric facility — 3.0%. But 576,196 — 9.4%, more than three times as many — live more than 30 minutes from a facility with a NICU.</a:t>
            </a:r>
          </a:p>
          <a:p>
            <a:pPr algn="l">
              <a:spcAft>
                <a:spcPts val="1200"/>
              </a:spcAft>
            </a:pPr>
            <a:r>
              <a:rPr sz="1400" b="1">
                <a:solidFill>
                  <a:srgbClr val="B94B21"/>
                </a:solidFill>
                <a:latin typeface="Calibri"/>
              </a:rPr>
              <a:t>Proximity to a door is not proximity to care. The NICU gap is where preventable maternal and neonatal deaths occur, and it is invisible to any binary desert map.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52514E"/>
                </a:solidFill>
                <a:latin typeface="Calibri"/>
              </a:rPr>
              <a:t>Separately: 78 counties holding 1,730,926 residents have a hospital but no obstetric unit. Those need a unit RESTORED, not a hospital BUILT — a far cheaper intervention.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720840" y="3063240"/>
          <a:ext cx="484632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1737360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Worst counties for women 15–44</a:t>
                      </a:r>
                    </a:p>
                  </a:txBody>
                  <a:tcPr marL="64008" marR="64008" marT="0" marB="0">
                    <a:solidFill>
                      <a:srgbClr val="1C5CA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Mean drive (min)</a:t>
                      </a:r>
                    </a:p>
                  </a:txBody>
                  <a:tcPr marL="64008" marR="64008" marT="0" marB="0">
                    <a:solidFill>
                      <a:srgbClr val="1C5CA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Crockett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79.1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Culberson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69.4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King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68.1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Terrell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66.5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Edwards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66.4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Presidio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66.0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Sutton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64.1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Reagan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64.0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02920" y="632764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8A8983"/>
                </a:solidFill>
                <a:latin typeface="Calibri"/>
              </a:rPr>
              <a:t>Slide 14 of 15 · Block-group resolution, ACS 2019–2023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2A78D6"/>
                </a:solidFill>
                <a:latin typeface="Calibri"/>
              </a:rPr>
              <a:t>WHAT COMES NEXT</a:t>
            </a:r>
          </a:p>
          <a:p>
            <a:pPr algn="l">
              <a:spcAft>
                <a:spcPts val="0"/>
              </a:spcAft>
            </a:pPr>
            <a:r>
              <a:rPr sz="2700" b="1">
                <a:solidFill>
                  <a:srgbClr val="111111"/>
                </a:solidFill>
                <a:latin typeface="Calibri"/>
              </a:rPr>
              <a:t>From diagnosis to decision — and the proposal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298448"/>
            <a:ext cx="1371600" cy="4445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roposal_fig2_siting_optimiz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6766560" cy="373245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406640" y="1417320"/>
            <a:ext cx="4343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0E7A53"/>
                </a:solidFill>
                <a:latin typeface="Calibri"/>
              </a:rPr>
              <a:t>Already working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52514E"/>
                </a:solidFill>
                <a:latin typeface="Calibri"/>
              </a:rPr>
              <a:t>Ten optimally sited facilities would bring 72,737 of 178,671 underserved women aged 15–44 within 30 minutes — 40.7% of the gap.</a:t>
            </a:r>
          </a:p>
          <a:p>
            <a:pPr algn="l">
              <a:spcAft>
                <a:spcPts val="1400"/>
              </a:spcAft>
            </a:pPr>
            <a:r>
              <a:rPr sz="1250" b="0">
                <a:solidFill>
                  <a:srgbClr val="52514E"/>
                </a:solidFill>
                <a:latin typeface="Calibri"/>
              </a:rPr>
              <a:t>Greedy carries a provable (1 − 1/e) ≈ 63% approximation guarantee, because coverage is monotone submodular. A bounded result, not a guess.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1C5CAB"/>
                </a:solidFill>
                <a:latin typeface="Calibri"/>
              </a:rPr>
              <a:t>How to make the proposal competitive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52514E"/>
                </a:solidFill>
                <a:latin typeface="Calibri"/>
              </a:rPr>
              <a:t>•  Lead with the 78 hospital-but-no-obstetrics counties — the cheapest intervention, and invisible to every published desert map.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52514E"/>
                </a:solidFill>
                <a:latin typeface="Calibri"/>
              </a:rPr>
              <a:t>•  Lead with the NICU gap: 9.4% vs 3.0%.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52514E"/>
                </a:solidFill>
                <a:latin typeface="Calibri"/>
              </a:rPr>
              <a:t>•  Show the siting plan. It already exists — that is the difference between promising analysis and delivering it.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52514E"/>
                </a:solidFill>
                <a:latin typeface="Calibri"/>
              </a:rPr>
              <a:t>•  Show the correction. It demonstrates rigour and implicitly critiques the existing literature without naming anyone.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52514E"/>
                </a:solidFill>
                <a:latin typeface="Calibri"/>
              </a:rPr>
              <a:t>•  Frame ILP as the shipped default and RL for the sequential, budget-phased problem — do not claim RL beats ILP on a static problem.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32764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8A8983"/>
                </a:solidFill>
                <a:latin typeface="Calibri"/>
              </a:rPr>
              <a:t>Slide 15 of 15 · Discovery Foundation · $29,150 requested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